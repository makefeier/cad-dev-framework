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2A5D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38912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FC1FF"/>
                </a:solidFill>
                <a:latin typeface="Microsoft YaHei"/>
                <a:ea typeface="Microsoft YaHei"/>
              </a:rPr>
              <a:t>CAD DEV FRAMEWORK · AUTOLISP / VLISP / DCL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515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Microsoft YaHei"/>
                <a:ea typeface="Microsoft YaHei"/>
              </a:rPr>
              <a:t>AutoCAD 二次开发 思维工具箱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72768"/>
            <a:ext cx="10515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BE6FF"/>
                </a:solidFill>
                <a:latin typeface="Microsoft YaHei"/>
                <a:ea typeface="Microsoft YaHei"/>
              </a:rPr>
              <a:t>一个面向 CAD 脚本开发的 Agent Skill —— 基于 15 份本地书籍资料的两轮交叉校审蒸馏，提供从需求到交付的完整开发流程、代码模板、调试方法与部署方案。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487168"/>
            <a:ext cx="1938528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2578608"/>
            <a:ext cx="168249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A1E46"/>
                </a:solidFill>
                <a:latin typeface="Microsoft YaHei"/>
                <a:ea typeface="Microsoft YaHei"/>
              </a:rPr>
              <a:t>15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200" b="1" i="0">
                <a:solidFill>
                  <a:srgbClr val="1F2633"/>
                </a:solidFill>
                <a:latin typeface="Microsoft YaHei"/>
                <a:ea typeface="Microsoft YaHei"/>
              </a:rPr>
              <a:t>本地资料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</a:pPr>
            <a:r>
              <a:rPr sz="900" b="0" i="0">
                <a:solidFill>
                  <a:srgbClr val="555F6E"/>
                </a:solidFill>
                <a:latin typeface="Microsoft YaHei"/>
                <a:ea typeface="Microsoft YaHei"/>
              </a:rPr>
              <a:t>9 份主源 + 6 份辅助/弃用标注</a:t>
            </a:r>
          </a:p>
        </p:txBody>
      </p:sp>
      <p:sp>
        <p:nvSpPr>
          <p:cNvPr id="9" name="Rectangle 8"/>
          <p:cNvSpPr/>
          <p:nvPr/>
        </p:nvSpPr>
        <p:spPr>
          <a:xfrm>
            <a:off x="2880360" y="2487168"/>
            <a:ext cx="1938528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08376" y="2578608"/>
            <a:ext cx="168249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A1E46"/>
                </a:solidFill>
                <a:latin typeface="Microsoft YaHei"/>
                <a:ea typeface="Microsoft YaHei"/>
              </a:rPr>
              <a:t>05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200" b="1" i="0">
                <a:solidFill>
                  <a:srgbClr val="1F2633"/>
                </a:solidFill>
                <a:latin typeface="Microsoft YaHei"/>
                <a:ea typeface="Microsoft YaHei"/>
              </a:rPr>
              <a:t>核心心智模型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</a:pPr>
            <a:r>
              <a:rPr sz="900" b="0" i="0">
                <a:solidFill>
                  <a:srgbClr val="555F6E"/>
                </a:solidFill>
                <a:latin typeface="Microsoft YaHei"/>
                <a:ea typeface="Microsoft YaHei"/>
              </a:rPr>
              <a:t>领域共识 · 标注证据与局限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37760" y="2487168"/>
            <a:ext cx="1938528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65776" y="2578608"/>
            <a:ext cx="168249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A1E46"/>
                </a:solidFill>
                <a:latin typeface="Microsoft YaHei"/>
                <a:ea typeface="Microsoft YaHei"/>
              </a:rPr>
              <a:t>10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200" b="1" i="0">
                <a:solidFill>
                  <a:srgbClr val="1F2633"/>
                </a:solidFill>
                <a:latin typeface="Microsoft YaHei"/>
                <a:ea typeface="Microsoft YaHei"/>
              </a:rPr>
              <a:t>决策启发式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</a:pPr>
            <a:r>
              <a:rPr sz="900" b="0" i="0">
                <a:solidFill>
                  <a:srgbClr val="555F6E"/>
                </a:solidFill>
                <a:latin typeface="Microsoft YaHei"/>
                <a:ea typeface="Microsoft YaHei"/>
              </a:rPr>
              <a:t>改图元/对话框/路径/分发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95160" y="2487168"/>
            <a:ext cx="1938528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23176" y="2578608"/>
            <a:ext cx="168249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A1E46"/>
                </a:solidFill>
                <a:latin typeface="Microsoft YaHei"/>
                <a:ea typeface="Microsoft YaHei"/>
              </a:rPr>
              <a:t>05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200" b="1" i="0">
                <a:solidFill>
                  <a:srgbClr val="1F2633"/>
                </a:solidFill>
                <a:latin typeface="Microsoft YaHei"/>
                <a:ea typeface="Microsoft YaHei"/>
              </a:rPr>
              <a:t>代码模式 A~E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</a:pPr>
            <a:r>
              <a:rPr sz="900" b="0" i="0">
                <a:solidFill>
                  <a:srgbClr val="555F6E"/>
                </a:solidFill>
                <a:latin typeface="Microsoft YaHei"/>
                <a:ea typeface="Microsoft YaHei"/>
              </a:rPr>
              <a:t>批量修改/取点绘图/entmake/VLA/DCL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52560" y="2487168"/>
            <a:ext cx="1938528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80576" y="2578608"/>
            <a:ext cx="168249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A1E46"/>
                </a:solidFill>
                <a:latin typeface="Microsoft YaHei"/>
                <a:ea typeface="Microsoft YaHei"/>
              </a:rPr>
              <a:t>12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200" b="1" i="0">
                <a:solidFill>
                  <a:srgbClr val="1F2633"/>
                </a:solidFill>
                <a:latin typeface="Microsoft YaHei"/>
                <a:ea typeface="Microsoft YaHei"/>
              </a:rPr>
              <a:t>高频避坑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</a:pPr>
            <a:r>
              <a:rPr sz="900" b="0" i="0">
                <a:solidFill>
                  <a:srgbClr val="555F6E"/>
                </a:solidFill>
                <a:latin typeface="Microsoft YaHei"/>
                <a:ea typeface="Microsoft YaHei"/>
              </a:rPr>
              <a:t>禁调函数/转义/时序/加载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3858768"/>
            <a:ext cx="566928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3968496"/>
            <a:ext cx="5303520" cy="1426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A1E46"/>
                </a:solidFill>
                <a:latin typeface="Microsoft YaHei"/>
                <a:ea typeface="Microsoft YaHei"/>
              </a:rPr>
              <a:t>用途 · USAGE</a:t>
            </a:r>
          </a:p>
          <a:p>
            <a:pPr algn="l" marL="164592" indent="-182880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1F2633"/>
                </a:solidFill>
                <a:latin typeface="Microsoft YaHei"/>
                <a:ea typeface="Microsoft YaHei"/>
              </a:rPr>
              <a:t>写新程序：需求 → 先定核心算法，再定交互方式（getpoint / DCL），输出可加载测试代码。</a:t>
            </a:r>
          </a:p>
          <a:p>
            <a:pPr algn="l" marL="164592" indent="-182880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1F2633"/>
                </a:solidFill>
                <a:latin typeface="Microsoft YaHei"/>
                <a:ea typeface="Microsoft YaHei"/>
              </a:rPr>
              <a:t>查错 / 调试：按避坑清单逐项排查：禁调函数、转换遗漏、路径转义、对话框时序。</a:t>
            </a:r>
          </a:p>
          <a:p>
            <a:pPr algn="l" marL="164592" indent="-182880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1F2633"/>
                </a:solidFill>
                <a:latin typeface="Microsoft YaHei"/>
                <a:ea typeface="Microsoft YaHei"/>
              </a:rPr>
              <a:t>改现有程序：用图元数据表驱动模型定位组码与函数链，最小改动落点。</a:t>
            </a:r>
          </a:p>
          <a:p>
            <a:pPr algn="l" marL="164592" indent="-18288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633"/>
                </a:solidFill>
                <a:latin typeface="Microsoft YaHei"/>
                <a:ea typeface="Microsoft YaHei"/>
              </a:rPr>
              <a:t>知识咨询：函数语法 / DCL 属性 / 加载方式直接引用调研文档，标注来源与【推断】边界。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75120" y="3858768"/>
            <a:ext cx="4690872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0" y="3968496"/>
            <a:ext cx="4343400" cy="1426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A1E46"/>
                </a:solidFill>
                <a:latin typeface="Microsoft YaHei"/>
                <a:ea typeface="Microsoft YaHei"/>
              </a:rPr>
              <a:t>触发 · TRIGGERS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555F6E"/>
                </a:solidFill>
                <a:latin typeface="Microsoft YaHei"/>
                <a:ea typeface="Microsoft YaHei"/>
              </a:rPr>
              <a:t>命中以下关键词即触发，即使只是「帮我写个改图层的程序」「这个 DCL 报错怎么解决」：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1F2633"/>
                </a:solidFill>
                <a:latin typeface="Microsoft YaHei"/>
                <a:ea typeface="Microsoft YaHei"/>
              </a:rPr>
              <a:t>CAD 二次开发 · AutoLISP · VLISP · DCL · 写个 LISP 程序 · CAD 插件 · CAD 脚本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55F6E"/>
                </a:solidFill>
                <a:latin typeface="Microsoft YaHei"/>
                <a:ea typeface="Microsoft YaHei"/>
              </a:rPr>
              <a:t>不触发：一般性 CAD 使用问题（绘图操作、命令行技巧）。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5687568"/>
            <a:ext cx="2606040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" y="5779008"/>
            <a:ext cx="2331720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A5DB0"/>
                </a:solidFill>
                <a:latin typeface="Microsoft YaHei"/>
                <a:ea typeface="Microsoft YaHei"/>
              </a:rPr>
              <a:t>FLOW 01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1150" b="1" i="0">
                <a:solidFill>
                  <a:srgbClr val="0A1E46"/>
                </a:solidFill>
                <a:latin typeface="Microsoft YaHei"/>
                <a:ea typeface="Microsoft YaHei"/>
              </a:rPr>
              <a:t>问题分类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900" b="0" i="0">
                <a:solidFill>
                  <a:srgbClr val="555F6E"/>
                </a:solidFill>
                <a:latin typeface="Microsoft YaHei"/>
                <a:ea typeface="Microsoft YaHei"/>
              </a:rPr>
              <a:t>写 / 查错 / 改 / 咨询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566160" y="5687568"/>
            <a:ext cx="2606040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12463" y="5779008"/>
            <a:ext cx="2331720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A5DB0"/>
                </a:solidFill>
                <a:latin typeface="Microsoft YaHei"/>
                <a:ea typeface="Microsoft YaHei"/>
              </a:rPr>
              <a:t>FLOW 02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1150" b="1" i="0">
                <a:solidFill>
                  <a:srgbClr val="0A1E46"/>
                </a:solidFill>
                <a:latin typeface="Microsoft YaHei"/>
                <a:ea typeface="Microsoft YaHei"/>
              </a:rPr>
              <a:t>开发前核对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900" b="0" i="0">
                <a:solidFill>
                  <a:srgbClr val="555F6E"/>
                </a:solidFill>
                <a:latin typeface="Microsoft YaHei"/>
                <a:ea typeface="Microsoft YaHei"/>
              </a:rPr>
              <a:t>DCL 时序 / 28 函数 / 转义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5687568"/>
            <a:ext cx="2606040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55664" y="5779008"/>
            <a:ext cx="2331720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A5DB0"/>
                </a:solidFill>
                <a:latin typeface="Microsoft YaHei"/>
                <a:ea typeface="Microsoft YaHei"/>
              </a:rPr>
              <a:t>FLOW 03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1150" b="1" i="0">
                <a:solidFill>
                  <a:srgbClr val="0A1E46"/>
                </a:solidFill>
                <a:latin typeface="Microsoft YaHei"/>
                <a:ea typeface="Microsoft YaHei"/>
              </a:rPr>
              <a:t>模型驱动输出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900" b="0" i="0">
                <a:solidFill>
                  <a:srgbClr val="555F6E"/>
                </a:solidFill>
                <a:latin typeface="Microsoft YaHei"/>
                <a:ea typeface="Microsoft YaHei"/>
              </a:rPr>
              <a:t>心智模型 + 代码模式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52560" y="5687568"/>
            <a:ext cx="2606040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98864" y="5779008"/>
            <a:ext cx="2331720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A5DB0"/>
                </a:solidFill>
                <a:latin typeface="Microsoft YaHei"/>
                <a:ea typeface="Microsoft YaHei"/>
              </a:rPr>
              <a:t>FLOW 04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1150" b="1" i="0">
                <a:solidFill>
                  <a:srgbClr val="0A1E46"/>
                </a:solidFill>
                <a:latin typeface="Microsoft YaHei"/>
                <a:ea typeface="Microsoft YaHei"/>
              </a:rPr>
              <a:t>交付附注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900" b="0" i="0">
                <a:solidFill>
                  <a:srgbClr val="555F6E"/>
                </a:solidFill>
                <a:latin typeface="Microsoft YaHei"/>
                <a:ea typeface="Microsoft YaHei"/>
              </a:rPr>
              <a:t>加载方式 / 最低版本 / 已知坑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A1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A5DB0"/>
                </a:solidFill>
                <a:latin typeface="Microsoft YaHei"/>
                <a:ea typeface="Microsoft YaHei"/>
              </a:rPr>
              <a:t>Chapter 01 · 核心心智模型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A1E46"/>
                </a:solidFill>
                <a:latin typeface="Microsoft YaHei"/>
                <a:ea typeface="Microsoft YaHei"/>
              </a:rPr>
              <a:t>五个模型 = 领域共识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1556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55F6E"/>
                </a:solidFill>
                <a:latin typeface="Microsoft YaHei"/>
                <a:ea typeface="Microsoft YaHei"/>
              </a:rPr>
              <a:t>先让核心逻辑跑通，再套交互壳；一切修改都走数据表，一切分发都声明版本。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0" y="347472"/>
            <a:ext cx="2834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55F6E"/>
                </a:solidFill>
                <a:latin typeface="Microsoft YaHei"/>
                <a:ea typeface="Microsoft YaHei"/>
              </a:rPr>
              <a:t>02/03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210312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0A1E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719072"/>
            <a:ext cx="1810511" cy="12435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A1E46"/>
                </a:solidFill>
                <a:latin typeface="Microsoft YaHei"/>
                <a:ea typeface="Microsoft YaHei"/>
              </a:rPr>
              <a:t>M1 · 分离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633"/>
                </a:solidFill>
                <a:latin typeface="Microsoft YaHei"/>
                <a:ea typeface="Microsoft YaHei"/>
              </a:rPr>
              <a:t>界面/输入与核心逻辑分离：先写纯 LISP 算法可独立测试，再套交互壳。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2898648" y="1600200"/>
            <a:ext cx="210312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0A1E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1719072"/>
            <a:ext cx="1810511" cy="12435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A1E46"/>
                </a:solidFill>
                <a:latin typeface="Microsoft YaHei"/>
                <a:ea typeface="Microsoft YaHei"/>
              </a:rPr>
              <a:t>M2 · 数据表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633"/>
                </a:solidFill>
                <a:latin typeface="Microsoft YaHei"/>
                <a:ea typeface="Microsoft YaHei"/>
              </a:rPr>
              <a:t>图元 = 组码关联表：改图元走 entget → subst → entmod（→entupd）。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57216" y="1600200"/>
            <a:ext cx="210312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0A1E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0" y="1719072"/>
            <a:ext cx="1810511" cy="12435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A1E46"/>
                </a:solidFill>
                <a:latin typeface="Microsoft YaHei"/>
                <a:ea typeface="Microsoft YaHei"/>
              </a:rPr>
              <a:t>M3 · 模块化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633"/>
                </a:solidFill>
                <a:latin typeface="Microsoft YaHei"/>
                <a:ea typeface="Microsoft YaHei"/>
              </a:rPr>
              <a:t>命令入口 + 子函数分层：(defun c:xxx)，局部变量放 / 后。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15783" y="1600200"/>
            <a:ext cx="210312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0A1E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62088" y="1719072"/>
            <a:ext cx="1810511" cy="12435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A1E46"/>
                </a:solidFill>
                <a:latin typeface="Microsoft YaHei"/>
                <a:ea typeface="Microsoft YaHei"/>
              </a:rPr>
              <a:t>M4 · 被动壳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633"/>
                </a:solidFill>
                <a:latin typeface="Microsoft YaHei"/>
                <a:ea typeface="Microsoft YaHei"/>
              </a:rPr>
              <a:t>DCL 只描述界面，控制权在 LISP；激活期禁调 28 个图形函数。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74351" y="1600200"/>
            <a:ext cx="210312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0A1E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20655" y="1719072"/>
            <a:ext cx="1810511" cy="12435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A1E46"/>
                </a:solidFill>
                <a:latin typeface="Microsoft YaHei"/>
                <a:ea typeface="Microsoft YaHei"/>
              </a:rPr>
              <a:t>M5 · 部署意识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633"/>
                </a:solidFill>
                <a:latin typeface="Microsoft YaHei"/>
                <a:ea typeface="Microsoft YaHei"/>
              </a:rPr>
              <a:t>第一天就考虑版本、加载方式、分发对象；交付附最低版本与依赖。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20040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A1E46"/>
                </a:solidFill>
                <a:latin typeface="Microsoft YaHei"/>
                <a:ea typeface="Microsoft YaHei"/>
              </a:rPr>
              <a:t>CHAPTER 02 · 代码模式库 A~E（可加载测试）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520440"/>
            <a:ext cx="5532120" cy="1828800"/>
          </a:xfrm>
          <a:prstGeom prst="rect">
            <a:avLst/>
          </a:prstGeom>
          <a:solidFill>
            <a:srgbClr val="0A1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1" y="3630168"/>
            <a:ext cx="5202936" cy="1609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DBE6FF"/>
                </a:solidFill>
                <a:latin typeface="Consolas"/>
                <a:ea typeface="Consolas"/>
              </a:rPr>
              <a:t>; A 遍历选择集批量修改字高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DBE6FF"/>
                </a:solidFill>
                <a:latin typeface="Consolas"/>
                <a:ea typeface="Consolas"/>
              </a:rPr>
              <a:t>(defun c:cth ( / ss i en ed)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DBE6FF"/>
                </a:solidFill>
                <a:latin typeface="Consolas"/>
                <a:ea typeface="Consolas"/>
              </a:rPr>
              <a:t>  (setq ss (ssget '((0 . "TEXT"))))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DBE6FF"/>
                </a:solidFill>
                <a:latin typeface="Consolas"/>
                <a:ea typeface="Consolas"/>
              </a:rPr>
              <a:t>  (setq i 0)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DBE6FF"/>
                </a:solidFill>
                <a:latin typeface="Consolas"/>
                <a:ea typeface="Consolas"/>
              </a:rPr>
              <a:t>  (repeat (sslength ss)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DBE6FF"/>
                </a:solidFill>
                <a:latin typeface="Consolas"/>
                <a:ea typeface="Consolas"/>
              </a:rPr>
              <a:t>    (setq en (ssname ss i) ed (entget en))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DBE6FF"/>
                </a:solidFill>
                <a:latin typeface="Consolas"/>
                <a:ea typeface="Consolas"/>
              </a:rPr>
              <a:t>    (setq ed (subst (cons 40 5.0) (assoc 40 ed) ed))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DBE6FF"/>
                </a:solidFill>
                <a:latin typeface="Consolas"/>
                <a:ea typeface="Consolas"/>
              </a:rPr>
              <a:t>    (entmod ed)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DBE6FF"/>
                </a:solidFill>
                <a:latin typeface="Consolas"/>
                <a:ea typeface="Consolas"/>
              </a:rPr>
              <a:t>    (setq i (1+ i)))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DBE6FF"/>
                </a:solidFill>
                <a:latin typeface="Consolas"/>
                <a:ea typeface="Consolas"/>
              </a:rPr>
              <a:t>  (princ))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486400"/>
            <a:ext cx="5532120" cy="1143000"/>
          </a:xfrm>
          <a:prstGeom prst="rect">
            <a:avLst/>
          </a:prstGeom>
          <a:solidFill>
            <a:srgbClr val="0A1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1" y="5596128"/>
            <a:ext cx="5202936" cy="9235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DBE6FF"/>
                </a:solidFill>
                <a:latin typeface="Consolas"/>
                <a:ea typeface="Consolas"/>
              </a:rPr>
              <a:t>; C entmake 直接建图元 / D VLA 对象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DBE6FF"/>
                </a:solidFill>
                <a:latin typeface="Consolas"/>
                <a:ea typeface="Consolas"/>
              </a:rPr>
              <a:t>(entmake (list '(0 . "LINE") (cons 10 p1) (cons 11 p2)))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DBE6FF"/>
                </a:solidFill>
                <a:latin typeface="Consolas"/>
                <a:ea typeface="Consolas"/>
              </a:rPr>
              <a:t>(vl-load-com)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DBE6FF"/>
                </a:solidFill>
                <a:latin typeface="Consolas"/>
                <a:ea typeface="Consolas"/>
              </a:rPr>
              <a:t>(setq ms (vla-get-ModelSpace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DBE6FF"/>
                </a:solidFill>
                <a:latin typeface="Consolas"/>
                <a:ea typeface="Consolas"/>
              </a:rPr>
              <a:t>  (vla-get-ActiveDocument (vlax-get-acad-object))))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DBE6FF"/>
                </a:solidFill>
                <a:latin typeface="Consolas"/>
                <a:ea typeface="Consolas"/>
              </a:rPr>
              <a:t>(vla-addCircle ms (vlax-3d-point p) 5.0)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3520440"/>
            <a:ext cx="5257800" cy="1463040"/>
          </a:xfrm>
          <a:prstGeom prst="rect">
            <a:avLst/>
          </a:prstGeom>
          <a:solidFill>
            <a:srgbClr val="0A1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73952" y="3630168"/>
            <a:ext cx="4928616" cy="12435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DBE6FF"/>
                </a:solidFill>
                <a:latin typeface="Consolas"/>
                <a:ea typeface="Consolas"/>
              </a:rPr>
              <a:t>; B 交互取点 + polar 参数化绘图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DBE6FF"/>
                </a:solidFill>
                <a:latin typeface="Consolas"/>
                <a:ea typeface="Consolas"/>
              </a:rPr>
              <a:t>(setq p1 (getpoint "\n指定起点: "))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DBE6FF"/>
                </a:solidFill>
                <a:latin typeface="Consolas"/>
                <a:ea typeface="Consolas"/>
              </a:rPr>
              <a:t>(setq p2 (getpoint p1 "\n指定终点: "))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DBE6FF"/>
                </a:solidFill>
                <a:latin typeface="Consolas"/>
                <a:ea typeface="Consolas"/>
              </a:rPr>
              <a:t>(setq ang (angle p1 p2) len (distance p1 p2))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DBE6FF"/>
                </a:solidFill>
                <a:latin typeface="Consolas"/>
                <a:ea typeface="Consolas"/>
              </a:rPr>
              <a:t>(setq p3 (polar p1 ang (/ len 2)))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DBE6FF"/>
                </a:solidFill>
                <a:latin typeface="Consolas"/>
                <a:ea typeface="Consolas"/>
              </a:rPr>
              <a:t>(command "line" p1 p2 "")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5120640"/>
            <a:ext cx="5257800" cy="1508760"/>
          </a:xfrm>
          <a:prstGeom prst="rect">
            <a:avLst/>
          </a:prstGeom>
          <a:solidFill>
            <a:srgbClr val="0A1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3952" y="5230368"/>
            <a:ext cx="4928616" cy="1289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DBE6FF"/>
                </a:solidFill>
                <a:latin typeface="Consolas"/>
                <a:ea typeface="Consolas"/>
              </a:rPr>
              <a:t>; E DCL 对话框标准骨架（dia5a 型）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DBE6FF"/>
                </a:solidFill>
                <a:latin typeface="Consolas"/>
                <a:ea typeface="Consolas"/>
              </a:rPr>
              <a:t>(defun dcl_dia5a 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DBE6FF"/>
                </a:solidFill>
                <a:latin typeface="Consolas"/>
                <a:ea typeface="Consolas"/>
              </a:rPr>
              <a:t>  (setq dcl_id (load_dialog "dia5a"))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DBE6FF"/>
                </a:solidFill>
                <a:latin typeface="Consolas"/>
                <a:ea typeface="Consolas"/>
              </a:rPr>
              <a:t>  (new_dialog "dia5a" dcl_id)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DBE6FF"/>
                </a:solidFill>
                <a:latin typeface="Consolas"/>
                <a:ea typeface="Consolas"/>
              </a:rPr>
              <a:t>  (set_tile "edit_p" (rtos (getvar "plinewid")))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DBE6FF"/>
                </a:solidFill>
                <a:latin typeface="Consolas"/>
                <a:ea typeface="Consolas"/>
              </a:rPr>
              <a:t>  (action_tile "accept" "(ok_dia5a)(done_dialog 1)")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DBE6FF"/>
                </a:solidFill>
                <a:latin typeface="Consolas"/>
                <a:ea typeface="Consolas"/>
              </a:rPr>
              <a:t>  (start_dialog)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DBE6FF"/>
                </a:solidFill>
                <a:latin typeface="Consolas"/>
                <a:ea typeface="Consolas"/>
              </a:rPr>
              <a:t>  (unload_dialog dcl_id))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A1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A5DB0"/>
                </a:solidFill>
                <a:latin typeface="Microsoft YaHei"/>
                <a:ea typeface="Microsoft YaHei"/>
              </a:rPr>
              <a:t>Chapter 03 · 实战决策 · 避坑 · 边界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A1E46"/>
                </a:solidFill>
                <a:latin typeface="Microsoft YaHei"/>
                <a:ea typeface="Microsoft YaHei"/>
              </a:rPr>
              <a:t>拿来即用的 决策清单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1556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55F6E"/>
                </a:solidFill>
                <a:latin typeface="Microsoft YaHei"/>
                <a:ea typeface="Microsoft YaHei"/>
              </a:rPr>
              <a:t>十条决策启发式覆盖日常开发的高频岔路口，配合流派对比与诚实边界，避免在旧资料时代语境下盲目套用。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0" y="347472"/>
            <a:ext cx="2834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55F6E"/>
                </a:solidFill>
                <a:latin typeface="Microsoft YaHei"/>
                <a:ea typeface="Microsoft YaHei"/>
              </a:rPr>
              <a:t>03/03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45920"/>
            <a:ext cx="603504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A1E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755648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A1E46"/>
                </a:solidFill>
                <a:latin typeface="Microsoft YaHei"/>
                <a:ea typeface="Microsoft YaHei"/>
              </a:rPr>
              <a:t>决策启发式 · 10 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84831"/>
            <a:ext cx="5669280" cy="3611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64592" indent="-182880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1F2633"/>
                </a:solidFill>
                <a:latin typeface="Microsoft YaHei"/>
                <a:ea typeface="Microsoft YaHei"/>
              </a:rPr>
              <a:t>改图元属性：entget → subst → entmod →（复杂图元）entupd 刷新。</a:t>
            </a:r>
          </a:p>
          <a:p>
            <a:pPr algn="l" marL="164592" indent="-182880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1F2633"/>
                </a:solidFill>
                <a:latin typeface="Microsoft YaHei"/>
                <a:ea typeface="Microsoft YaHei"/>
              </a:rPr>
              <a:t>做对话框：先 VIEWDCL 预览布局 → 写 LISP 控制 → load 联调。</a:t>
            </a:r>
          </a:p>
          <a:p>
            <a:pPr algn="l" marL="164592" indent="-182880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1F2633"/>
                </a:solidFill>
                <a:latin typeface="Microsoft YaHei"/>
                <a:ea typeface="Microsoft YaHei"/>
              </a:rPr>
              <a:t>激活期：禁调 command/entmake/ssget/getpoint 等 28 个函数，图形操作放 done_dialog 后。</a:t>
            </a:r>
          </a:p>
          <a:p>
            <a:pPr algn="l" marL="164592" indent="-182880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1F2633"/>
                </a:solidFill>
                <a:latin typeface="Microsoft YaHei"/>
                <a:ea typeface="Microsoft YaHei"/>
              </a:rPr>
              <a:t>DCL 取值：set_tile/get_tile 只走字符串——整数 itoa、实数 rtos、回转 atoi/atof。</a:t>
            </a:r>
          </a:p>
          <a:p>
            <a:pPr algn="l" marL="164592" indent="-182880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1F2633"/>
                </a:solidFill>
                <a:latin typeface="Microsoft YaHei"/>
                <a:ea typeface="Microsoft YaHei"/>
              </a:rPr>
              <a:t>路径字符串：反斜杠转义 D:\lisp；load_dialog 失败返回 -1。</a:t>
            </a:r>
          </a:p>
          <a:p>
            <a:pPr algn="l" marL="164592" indent="-182880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1F2633"/>
                </a:solidFill>
                <a:latin typeface="Microsoft YaHei"/>
                <a:ea typeface="Microsoft YaHei"/>
              </a:rPr>
              <a:t>用 command：先 (setvar "cmdecho" 0) 抑制回显，结束恢复，(princ) 收尾。</a:t>
            </a:r>
          </a:p>
          <a:p>
            <a:pPr algn="l" marL="164592" indent="-182880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1F2633"/>
                </a:solidFill>
                <a:latin typeface="Microsoft YaHei"/>
                <a:ea typeface="Microsoft YaHei"/>
              </a:rPr>
              <a:t>写 DCL：对象与属性小写、赋值以 ; 结尾、key 唯一大小写敏感。</a:t>
            </a:r>
          </a:p>
          <a:p>
            <a:pPr algn="l" marL="164592" indent="-182880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1F2633"/>
                </a:solidFill>
                <a:latin typeface="Microsoft YaHei"/>
                <a:ea typeface="Microsoft YaHei"/>
              </a:rPr>
              <a:t>选绘图方式：简单交互用 command；批量/稳定用 entmake/VLA；可读性用 VLA。</a:t>
            </a:r>
          </a:p>
          <a:p>
            <a:pPr algn="l" marL="164592" indent="-182880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1F2633"/>
                </a:solidFill>
                <a:latin typeface="Microsoft YaHei"/>
                <a:ea typeface="Microsoft YaHei"/>
              </a:rPr>
              <a:t>遍历选择集：ssget 带过滤表 '((0 . "TEXT"))；repeat + ssname + sslength。</a:t>
            </a:r>
          </a:p>
          <a:p>
            <a:pPr algn="l" marL="164592" indent="-182880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1F2633"/>
                </a:solidFill>
                <a:latin typeface="Microsoft YaHei"/>
                <a:ea typeface="Microsoft YaHei"/>
              </a:rPr>
              <a:t>分发程序：源码 LSP + 打包 VLX 双通道；常驻用 acaddoc.lsp，低频用 APPLOAD。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03720" y="1645920"/>
            <a:ext cx="4645152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A1E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6600" y="1755648"/>
            <a:ext cx="4297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A1E46"/>
                </a:solidFill>
                <a:latin typeface="Microsoft YaHei"/>
                <a:ea typeface="Microsoft YaHei"/>
              </a:rPr>
              <a:t>流派对比 · 分歧如实呈现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086600" y="2103120"/>
          <a:ext cx="4297680" cy="1243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68680"/>
                <a:gridCol w="1143000"/>
                <a:gridCol w="1417320"/>
                <a:gridCol w="868680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分歧点</a:t>
                      </a:r>
                    </a:p>
                  </a:txBody>
                  <a:tcPr marL="45720" marR="27432" marT="9144" marB="9144">
                    <a:solidFill>
                      <a:srgbClr val="0A1E4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派系 A</a:t>
                      </a:r>
                    </a:p>
                  </a:txBody>
                  <a:tcPr marL="45720" marR="27432" marT="9144" marB="9144">
                    <a:solidFill>
                      <a:srgbClr val="0A1E4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派系 B</a:t>
                      </a:r>
                    </a:p>
                  </a:txBody>
                  <a:tcPr marL="45720" marR="27432" marT="9144" marB="9144">
                    <a:solidFill>
                      <a:srgbClr val="0A1E4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处理</a:t>
                      </a:r>
                    </a:p>
                  </a:txBody>
                  <a:tcPr marL="45720" marR="27432" marT="9144" marB="9144">
                    <a:solidFill>
                      <a:srgbClr val="0A1E46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A1E46"/>
                          </a:solidFill>
                          <a:latin typeface="Microsoft YaHei"/>
                          <a:ea typeface="Microsoft YaHei"/>
                        </a:rPr>
                        <a:t>绘图路线</a:t>
                      </a:r>
                    </a:p>
                  </a:txBody>
                  <a:tcPr marL="45720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F2633"/>
                          </a:solidFill>
                          <a:latin typeface="Microsoft YaHei"/>
                          <a:ea typeface="Microsoft YaHei"/>
                        </a:rPr>
                        <a:t>command 直观</a:t>
                      </a:r>
                    </a:p>
                  </a:txBody>
                  <a:tcPr marL="45720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F2633"/>
                          </a:solidFill>
                          <a:latin typeface="Microsoft YaHei"/>
                          <a:ea typeface="Microsoft YaHei"/>
                        </a:rPr>
                        <a:t>entmake/ActiveX 稳定</a:t>
                      </a:r>
                    </a:p>
                  </a:txBody>
                  <a:tcPr marL="45720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F2633"/>
                          </a:solidFill>
                          <a:latin typeface="Microsoft YaHei"/>
                          <a:ea typeface="Microsoft YaHei"/>
                        </a:rPr>
                        <a:t>双轨提供</a:t>
                      </a:r>
                    </a:p>
                  </a:txBody>
                  <a:tcPr marL="45720" marR="27432" marT="9144" marB="9144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A1E46"/>
                          </a:solidFill>
                          <a:latin typeface="Microsoft YaHei"/>
                          <a:ea typeface="Microsoft YaHei"/>
                        </a:rPr>
                        <a:t>acad.lsp</a:t>
                      </a:r>
                    </a:p>
                  </a:txBody>
                  <a:tcPr marL="45720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F2633"/>
                          </a:solidFill>
                          <a:latin typeface="Microsoft YaHei"/>
                          <a:ea typeface="Microsoft YaHei"/>
                        </a:rPr>
                        <a:t>0 仅首图加载</a:t>
                      </a:r>
                    </a:p>
                  </a:txBody>
                  <a:tcPr marL="45720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F2633"/>
                          </a:solidFill>
                          <a:latin typeface="Microsoft YaHei"/>
                          <a:ea typeface="Microsoft YaHei"/>
                        </a:rPr>
                        <a:t>1 每文档加载</a:t>
                      </a:r>
                    </a:p>
                  </a:txBody>
                  <a:tcPr marL="45720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F2633"/>
                          </a:solidFill>
                          <a:latin typeface="Microsoft YaHei"/>
                          <a:ea typeface="Microsoft YaHei"/>
                        </a:rPr>
                        <a:t>按部署选</a:t>
                      </a:r>
                    </a:p>
                  </a:txBody>
                  <a:tcPr marL="45720" marR="27432" marT="9144" marB="9144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A1E46"/>
                          </a:solidFill>
                          <a:latin typeface="Microsoft YaHei"/>
                          <a:ea typeface="Microsoft YaHei"/>
                        </a:rPr>
                        <a:t>思考法</a:t>
                      </a:r>
                    </a:p>
                  </a:txBody>
                  <a:tcPr marL="45720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F2633"/>
                          </a:solidFill>
                          <a:latin typeface="Microsoft YaHei"/>
                          <a:ea typeface="Microsoft YaHei"/>
                        </a:rPr>
                        <a:t>DCL 优先</a:t>
                      </a:r>
                    </a:p>
                  </a:txBody>
                  <a:tcPr marL="45720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F2633"/>
                          </a:solidFill>
                          <a:latin typeface="Microsoft YaHei"/>
                          <a:ea typeface="Microsoft YaHei"/>
                        </a:rPr>
                        <a:t>LISP 优先</a:t>
                      </a:r>
                    </a:p>
                  </a:txBody>
                  <a:tcPr marL="45720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F2633"/>
                          </a:solidFill>
                          <a:latin typeface="Microsoft YaHei"/>
                          <a:ea typeface="Microsoft YaHei"/>
                        </a:rPr>
                        <a:t>新手 LISP 优先</a:t>
                      </a:r>
                    </a:p>
                  </a:txBody>
                  <a:tcPr marL="45720" marR="27432" marT="9144" marB="914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6903720" y="3611880"/>
            <a:ext cx="4645152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A1E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86600" y="3703320"/>
            <a:ext cx="4297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A1E46"/>
                </a:solidFill>
                <a:latin typeface="Microsoft YaHei"/>
                <a:ea typeface="Microsoft YaHei"/>
              </a:rPr>
              <a:t>避坑 TOP 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6600" y="4023360"/>
            <a:ext cx="42976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64592" indent="-182880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1F2633"/>
                </a:solidFill>
                <a:latin typeface="Microsoft YaHei"/>
                <a:ea typeface="Microsoft YaHei"/>
              </a:rPr>
              <a:t>DCL 激活期禁调 28 函数 → 「AutoCAD 拒绝的函数」。</a:t>
            </a:r>
          </a:p>
          <a:p>
            <a:pPr algn="l" marL="164592" indent="-182880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1F2633"/>
                </a:solidFill>
                <a:latin typeface="Microsoft YaHei"/>
                <a:ea typeface="Microsoft YaHei"/>
              </a:rPr>
              <a:t>new_dialog 后漏 start_dialog → 对话框失控。</a:t>
            </a:r>
          </a:p>
          <a:p>
            <a:pPr algn="l" marL="164592" indent="-182880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1F2633"/>
                </a:solidFill>
                <a:latin typeface="Microsoft YaHei"/>
                <a:ea typeface="Microsoft YaHei"/>
              </a:rPr>
              <a:t>mode_tile 0/1 反直觉：0=恢复作用、1=禁用。</a:t>
            </a:r>
          </a:p>
          <a:p>
            <a:pPr algn="l" marL="164592" indent="-182880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1F2633"/>
                </a:solidFill>
                <a:latin typeface="Microsoft YaHei"/>
                <a:ea typeface="Microsoft YaHei"/>
              </a:rPr>
              <a:t>action_tile 多表达式须拼成一个字符串，内嵌变量 " 转义。</a:t>
            </a:r>
          </a:p>
          <a:p>
            <a:pPr algn="l" marL="164592" indent="-182880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1F2633"/>
                </a:solidFill>
                <a:latin typeface="Microsoft YaHei"/>
                <a:ea typeface="Microsoft YaHei"/>
              </a:rPr>
              <a:t>路径反斜杠不转义（D:\lisp 应为 D:\\lisp）。</a:t>
            </a:r>
          </a:p>
          <a:p>
            <a:pPr algn="l" marL="164592" indent="-182880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1F2633"/>
                </a:solidFill>
                <a:latin typeface="Microsoft YaHei"/>
                <a:ea typeface="Microsoft YaHei"/>
              </a:rPr>
              <a:t>初学者严禁修改官方 BASE.DCL；语法错误查工作目录 ACAD.DCE。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943600"/>
            <a:ext cx="10972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0A1E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016752"/>
            <a:ext cx="106070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A1E46"/>
                </a:solidFill>
                <a:latin typeface="Microsoft YaHei"/>
                <a:ea typeface="Microsoft YaHei"/>
              </a:rPr>
              <a:t>诚实边界 · HONEST BOUNDARIES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55F6E"/>
                </a:solidFill>
                <a:latin typeface="Microsoft YaHei"/>
                <a:ea typeface="Microsoft YaHei"/>
              </a:rPr>
              <a:t>基于 R13/2000 时代书籍提炼：组码/系统变量未全量收录需查官方帮助；CHM 个别页标题与正文不一致以正文为准；部分条目为语义推断已标注【推断】；现代 CAD（2004+）行为差异需实测。调研文档见 references/research/（01 方法论 / 02 语言核心 / 03 DCL / 04 实战模式 / 05 坑与工具链）。</a:t>
            </a:r>
          </a:p>
        </p:txBody>
      </p:sp>
      <p:sp>
        <p:nvSpPr>
          <p:cNvPr id="18" name="__marvis_ai_watermark__" title="Marvis AI Watermark" descr="marvis-ai-watermark-v1"/>
          <p:cNvSpPr txBox="1"/>
          <p:nvPr/>
        </p:nvSpPr>
        <p:spPr>
          <a:xfrm>
            <a:off x="7696002" y="6248400"/>
            <a:ext cx="4267093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001191440300708461136T1XGW3","ProduceID":"3b6503139f85fadda09cb1d1a4473bce_62568112ccef11f1b659525400cd780f","ReservedCode1":"FAeLHgupTL376XgUdwjDLEwF8ukfJEo3jsy/ZLirLbRkLVaTrphptDsc5QVFv66F17MGvmXx6Xi9ySjdshpSS5sCGm9vOY2enLTBCeBGm30IkFguOXBexlTNhZw9vklZFrhtZEAoGoWEkFjqB/xzEYNNP13Nj+mUT50aQf/n/5Z1oybgIj+w/j+7OZA=","ContentPropagator":"001191440300708461136T1XGW3","PropagateID":"3b6503139f85fadda09cb1d1a4473bce_62568112ccef11f1b659525400cd780f","ReservedCode2":"FAeLHgupTL376XgUdwjDLEwF8ukfJEo3jsy/ZLirLbRkLVaTrphptDsc5QVFv66F17MGvmXx6Xi9ySjdshpSS5sCGm9vOY2enLTBCeBGm30IkFguOXBexlTNhZw9vklZFrhtZEAoGoWEkFjqB/xzEYNNP13Nj+mUT50aQf/n/5Z1oybgIj+w/j+7OZA="}</vt:lpwstr>
  </property>
</Properties>
</file>